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Quicksand" panose="020B0604020202020204" charset="0"/>
      <p:regular r:id="rId9"/>
    </p:embeddedFont>
    <p:embeddedFont>
      <p:font typeface="Quicksand Bold" panose="020B0604020202020204" charset="0"/>
      <p:regular r:id="rId10"/>
    </p:embeddedFont>
    <p:embeddedFont>
      <p:font typeface="Quicksand Medium" panose="020B0604020202020204" charset="0"/>
      <p:regular r:id="rId11"/>
    </p:embeddedFont>
    <p:embeddedFont>
      <p:font typeface="Shrikhan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EC9419-FC3F-4653-BE14-8FB7FAEABCDD}" type="datetimeFigureOut">
              <a:rPr lang="es-ES" smtClean="0"/>
              <a:t>22/10/2025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83F74-5BB4-454C-AD08-A1F08876C01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8074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83F74-5BB4-454C-AD08-A1F08876C01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55898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sv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figma.com/design/vKqqMAV5IrwEKMFAv4fTSW/Juego-de-la-rata?node-id=0-1&amp;t=l4beYpkqfLhfzUI0-1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9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40883" y="150533"/>
            <a:ext cx="18006234" cy="9985933"/>
          </a:xfrm>
          <a:prstGeom prst="rect">
            <a:avLst/>
          </a:prstGeom>
          <a:solidFill>
            <a:srgbClr val="272727"/>
          </a:solidFill>
        </p:spPr>
        <p:txBody>
          <a:bodyPr/>
          <a:lstStyle/>
          <a:p>
            <a:endParaRPr lang="es-ES"/>
          </a:p>
        </p:txBody>
      </p:sp>
      <p:sp>
        <p:nvSpPr>
          <p:cNvPr id="3" name="TextBox 3"/>
          <p:cNvSpPr txBox="1"/>
          <p:nvPr/>
        </p:nvSpPr>
        <p:spPr>
          <a:xfrm>
            <a:off x="1028700" y="3887470"/>
            <a:ext cx="9351458" cy="40170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400"/>
              </a:lnSpc>
            </a:pPr>
            <a:r>
              <a:rPr lang="en-US" sz="10400" spc="-260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Proyecto Ingeniería del Software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28700" y="1028700"/>
            <a:ext cx="4762500" cy="1144515"/>
            <a:chOff x="0" y="0"/>
            <a:chExt cx="3687359" cy="88613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687359" cy="886139"/>
            </a:xfrm>
            <a:custGeom>
              <a:avLst/>
              <a:gdLst/>
              <a:ahLst/>
              <a:cxnLst/>
              <a:rect l="l" t="t" r="r" b="b"/>
              <a:pathLst>
                <a:path w="3687359" h="886139">
                  <a:moveTo>
                    <a:pt x="3562898" y="886139"/>
                  </a:moveTo>
                  <a:lnTo>
                    <a:pt x="124460" y="886139"/>
                  </a:lnTo>
                  <a:cubicBezTo>
                    <a:pt x="55880" y="886139"/>
                    <a:pt x="0" y="830259"/>
                    <a:pt x="0" y="7616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62899" y="0"/>
                  </a:lnTo>
                  <a:cubicBezTo>
                    <a:pt x="3631479" y="0"/>
                    <a:pt x="3687359" y="55880"/>
                    <a:pt x="3687359" y="124460"/>
                  </a:cubicBezTo>
                  <a:lnTo>
                    <a:pt x="3687359" y="761679"/>
                  </a:lnTo>
                  <a:cubicBezTo>
                    <a:pt x="3687359" y="830259"/>
                    <a:pt x="3631479" y="886139"/>
                    <a:pt x="3562899" y="886139"/>
                  </a:cubicBezTo>
                  <a:close/>
                </a:path>
              </a:pathLst>
            </a:custGeom>
            <a:solidFill>
              <a:srgbClr val="FFF559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96800" y="1033279"/>
            <a:ext cx="4762500" cy="1144515"/>
            <a:chOff x="0" y="0"/>
            <a:chExt cx="3687359" cy="88613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87359" cy="886139"/>
            </a:xfrm>
            <a:custGeom>
              <a:avLst/>
              <a:gdLst/>
              <a:ahLst/>
              <a:cxnLst/>
              <a:rect l="l" t="t" r="r" b="b"/>
              <a:pathLst>
                <a:path w="3687359" h="886139">
                  <a:moveTo>
                    <a:pt x="3562898" y="886139"/>
                  </a:moveTo>
                  <a:lnTo>
                    <a:pt x="124460" y="886139"/>
                  </a:lnTo>
                  <a:cubicBezTo>
                    <a:pt x="55880" y="886139"/>
                    <a:pt x="0" y="830259"/>
                    <a:pt x="0" y="761679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3562899" y="0"/>
                  </a:lnTo>
                  <a:cubicBezTo>
                    <a:pt x="3631479" y="0"/>
                    <a:pt x="3687359" y="55880"/>
                    <a:pt x="3687359" y="124460"/>
                  </a:cubicBezTo>
                  <a:lnTo>
                    <a:pt x="3687359" y="761679"/>
                  </a:lnTo>
                  <a:cubicBezTo>
                    <a:pt x="3687359" y="830259"/>
                    <a:pt x="3631479" y="886139"/>
                    <a:pt x="3562899" y="886139"/>
                  </a:cubicBezTo>
                  <a:close/>
                </a:path>
              </a:pathLst>
            </a:custGeom>
            <a:solidFill>
              <a:srgbClr val="FFF559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8" name="Freeform 8"/>
          <p:cNvSpPr/>
          <p:nvPr/>
        </p:nvSpPr>
        <p:spPr>
          <a:xfrm>
            <a:off x="12496800" y="7438282"/>
            <a:ext cx="4762500" cy="2848718"/>
          </a:xfrm>
          <a:custGeom>
            <a:avLst/>
            <a:gdLst/>
            <a:ahLst/>
            <a:cxnLst/>
            <a:rect l="l" t="t" r="r" b="b"/>
            <a:pathLst>
              <a:path w="4762500" h="2848718">
                <a:moveTo>
                  <a:pt x="0" y="0"/>
                </a:moveTo>
                <a:lnTo>
                  <a:pt x="4762500" y="0"/>
                </a:lnTo>
                <a:lnTo>
                  <a:pt x="4762500" y="2848718"/>
                </a:lnTo>
                <a:lnTo>
                  <a:pt x="0" y="28487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9" name="TextBox 9"/>
          <p:cNvSpPr txBox="1"/>
          <p:nvPr/>
        </p:nvSpPr>
        <p:spPr>
          <a:xfrm>
            <a:off x="1028700" y="8767445"/>
            <a:ext cx="9351458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559"/>
                </a:solidFill>
                <a:latin typeface="Quicksand"/>
                <a:ea typeface="Quicksand"/>
                <a:cs typeface="Quicksand"/>
                <a:sym typeface="Quicksand"/>
              </a:rPr>
              <a:t>Jorge, Marcos, Edgar, Hugo, Iñaki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81125" y="1322193"/>
            <a:ext cx="405765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SPRINT 1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849225" y="1326771"/>
            <a:ext cx="4057650" cy="490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272727"/>
                </a:solidFill>
                <a:latin typeface="Quicksand"/>
                <a:ea typeface="Quicksand"/>
                <a:cs typeface="Quicksand"/>
                <a:sym typeface="Quicksand"/>
              </a:rPr>
              <a:t>CURSO 25/26</a:t>
            </a:r>
          </a:p>
        </p:txBody>
      </p:sp>
      <p:sp>
        <p:nvSpPr>
          <p:cNvPr id="12" name="Freeform 4">
            <a:extLst>
              <a:ext uri="{FF2B5EF4-FFF2-40B4-BE49-F238E27FC236}">
                <a16:creationId xmlns:a16="http://schemas.microsoft.com/office/drawing/2014/main" id="{2EAC16FA-307F-68CA-7E0E-02F3CD0FE26F}"/>
              </a:ext>
            </a:extLst>
          </p:cNvPr>
          <p:cNvSpPr/>
          <p:nvPr/>
        </p:nvSpPr>
        <p:spPr>
          <a:xfrm>
            <a:off x="7742313" y="773986"/>
            <a:ext cx="2798457" cy="2798457"/>
          </a:xfrm>
          <a:custGeom>
            <a:avLst/>
            <a:gdLst/>
            <a:ahLst/>
            <a:cxnLst/>
            <a:rect l="l" t="t" r="r" b="b"/>
            <a:pathLst>
              <a:path w="2798457" h="2798457">
                <a:moveTo>
                  <a:pt x="0" y="0"/>
                </a:moveTo>
                <a:lnTo>
                  <a:pt x="2798457" y="0"/>
                </a:lnTo>
                <a:lnTo>
                  <a:pt x="2798457" y="2798457"/>
                </a:lnTo>
                <a:lnTo>
                  <a:pt x="0" y="27984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9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1852168"/>
            <a:ext cx="7000610" cy="1314450"/>
            <a:chOff x="0" y="0"/>
            <a:chExt cx="9334146" cy="1752600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0"/>
              <a:ext cx="9334146" cy="1752600"/>
              <a:chOff x="0" y="0"/>
              <a:chExt cx="5420212" cy="1017711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0"/>
                <a:ext cx="5420212" cy="1017711"/>
              </a:xfrm>
              <a:custGeom>
                <a:avLst/>
                <a:gdLst/>
                <a:ahLst/>
                <a:cxnLst/>
                <a:rect l="l" t="t" r="r" b="b"/>
                <a:pathLst>
                  <a:path w="5420212" h="1017711">
                    <a:moveTo>
                      <a:pt x="5295752" y="1017711"/>
                    </a:moveTo>
                    <a:lnTo>
                      <a:pt x="124460" y="1017711"/>
                    </a:lnTo>
                    <a:cubicBezTo>
                      <a:pt x="55880" y="1017711"/>
                      <a:pt x="0" y="961831"/>
                      <a:pt x="0" y="89325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295752" y="0"/>
                    </a:lnTo>
                    <a:cubicBezTo>
                      <a:pt x="5364332" y="0"/>
                      <a:pt x="5420212" y="55880"/>
                      <a:pt x="5420212" y="124460"/>
                    </a:cubicBezTo>
                    <a:lnTo>
                      <a:pt x="5420212" y="893251"/>
                    </a:lnTo>
                    <a:cubicBezTo>
                      <a:pt x="5420212" y="961831"/>
                      <a:pt x="5364332" y="1017711"/>
                      <a:pt x="5295752" y="1017711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5" name="TextBox 5"/>
            <p:cNvSpPr txBox="1"/>
            <p:nvPr/>
          </p:nvSpPr>
          <p:spPr>
            <a:xfrm>
              <a:off x="623125" y="494030"/>
              <a:ext cx="7968186" cy="745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FF559"/>
                  </a:solidFill>
                  <a:latin typeface="Quicksand Medium"/>
                  <a:ea typeface="Quicksand Medium"/>
                  <a:cs typeface="Quicksand Medium"/>
                  <a:sym typeface="Quicksand Medium"/>
                </a:rPr>
                <a:t>Elegir el juego a desarrollar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9144000" y="4190916"/>
            <a:ext cx="7000610" cy="1314450"/>
            <a:chOff x="0" y="0"/>
            <a:chExt cx="9334146" cy="1752600"/>
          </a:xfrm>
        </p:grpSpPr>
        <p:grpSp>
          <p:nvGrpSpPr>
            <p:cNvPr id="7" name="Group 7"/>
            <p:cNvGrpSpPr/>
            <p:nvPr/>
          </p:nvGrpSpPr>
          <p:grpSpPr>
            <a:xfrm>
              <a:off x="0" y="0"/>
              <a:ext cx="9334146" cy="1752600"/>
              <a:chOff x="0" y="0"/>
              <a:chExt cx="5420212" cy="1017711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5420212" cy="1017711"/>
              </a:xfrm>
              <a:custGeom>
                <a:avLst/>
                <a:gdLst/>
                <a:ahLst/>
                <a:cxnLst/>
                <a:rect l="l" t="t" r="r" b="b"/>
                <a:pathLst>
                  <a:path w="5420212" h="1017711">
                    <a:moveTo>
                      <a:pt x="5295752" y="1017711"/>
                    </a:moveTo>
                    <a:lnTo>
                      <a:pt x="124460" y="1017711"/>
                    </a:lnTo>
                    <a:cubicBezTo>
                      <a:pt x="55880" y="1017711"/>
                      <a:pt x="0" y="961831"/>
                      <a:pt x="0" y="89325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295752" y="0"/>
                    </a:lnTo>
                    <a:cubicBezTo>
                      <a:pt x="5364332" y="0"/>
                      <a:pt x="5420212" y="55880"/>
                      <a:pt x="5420212" y="124460"/>
                    </a:cubicBezTo>
                    <a:lnTo>
                      <a:pt x="5420212" y="893251"/>
                    </a:lnTo>
                    <a:cubicBezTo>
                      <a:pt x="5420212" y="961831"/>
                      <a:pt x="5364332" y="1017711"/>
                      <a:pt x="5295752" y="1017711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623125" y="514635"/>
              <a:ext cx="7968186" cy="745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FF559"/>
                  </a:solidFill>
                  <a:latin typeface="Quicksand Medium"/>
                  <a:ea typeface="Quicksand Medium"/>
                  <a:cs typeface="Quicksand Medium"/>
                  <a:sym typeface="Quicksand Medium"/>
                </a:rPr>
                <a:t>Definir las tareas pricipales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0" y="6529664"/>
            <a:ext cx="7000610" cy="1314618"/>
            <a:chOff x="0" y="0"/>
            <a:chExt cx="9334146" cy="1752824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9334146" cy="1752824"/>
              <a:chOff x="0" y="0"/>
              <a:chExt cx="5420212" cy="1017841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5420212" cy="1017841"/>
              </a:xfrm>
              <a:custGeom>
                <a:avLst/>
                <a:gdLst/>
                <a:ahLst/>
                <a:cxnLst/>
                <a:rect l="l" t="t" r="r" b="b"/>
                <a:pathLst>
                  <a:path w="5420212" h="1017841">
                    <a:moveTo>
                      <a:pt x="5295752" y="1017841"/>
                    </a:moveTo>
                    <a:lnTo>
                      <a:pt x="124460" y="1017841"/>
                    </a:lnTo>
                    <a:cubicBezTo>
                      <a:pt x="55880" y="1017841"/>
                      <a:pt x="0" y="961961"/>
                      <a:pt x="0" y="893381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5295752" y="0"/>
                    </a:lnTo>
                    <a:cubicBezTo>
                      <a:pt x="5364332" y="0"/>
                      <a:pt x="5420212" y="55880"/>
                      <a:pt x="5420212" y="124460"/>
                    </a:cubicBezTo>
                    <a:lnTo>
                      <a:pt x="5420212" y="893381"/>
                    </a:lnTo>
                    <a:cubicBezTo>
                      <a:pt x="5420212" y="961961"/>
                      <a:pt x="5364332" y="1017841"/>
                      <a:pt x="5295752" y="1017841"/>
                    </a:cubicBezTo>
                    <a:close/>
                  </a:path>
                </a:pathLst>
              </a:custGeom>
              <a:solidFill>
                <a:srgbClr val="272727"/>
              </a:solidFill>
            </p:spPr>
            <p:txBody>
              <a:bodyPr/>
              <a:lstStyle/>
              <a:p>
                <a:endParaRPr lang="es-ES"/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682980" y="494142"/>
              <a:ext cx="7968186" cy="7454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680"/>
                </a:lnSpc>
                <a:spcBef>
                  <a:spcPct val="0"/>
                </a:spcBef>
              </a:pPr>
              <a:r>
                <a:rPr lang="en-US" sz="3600" b="1">
                  <a:solidFill>
                    <a:srgbClr val="FFF559"/>
                  </a:solidFill>
                  <a:latin typeface="Quicksand Medium"/>
                  <a:ea typeface="Quicksand Medium"/>
                  <a:cs typeface="Quicksand Medium"/>
                  <a:sym typeface="Quicksand Medium"/>
                </a:rPr>
                <a:t>Organizar el proyecto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691178" y="3924300"/>
            <a:ext cx="6687186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Objetivos del Sprint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4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24831" y="4267375"/>
            <a:ext cx="3388048" cy="4369954"/>
            <a:chOff x="0" y="0"/>
            <a:chExt cx="2623191" cy="338343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623191" cy="3383431"/>
            </a:xfrm>
            <a:custGeom>
              <a:avLst/>
              <a:gdLst/>
              <a:ahLst/>
              <a:cxnLst/>
              <a:rect l="l" t="t" r="r" b="b"/>
              <a:pathLst>
                <a:path w="2623191" h="3383431">
                  <a:moveTo>
                    <a:pt x="2498731" y="3383431"/>
                  </a:moveTo>
                  <a:lnTo>
                    <a:pt x="124460" y="3383431"/>
                  </a:lnTo>
                  <a:cubicBezTo>
                    <a:pt x="55880" y="3383431"/>
                    <a:pt x="0" y="3327551"/>
                    <a:pt x="0" y="3258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258971"/>
                  </a:lnTo>
                  <a:cubicBezTo>
                    <a:pt x="2623191" y="3327551"/>
                    <a:pt x="2567311" y="3383431"/>
                    <a:pt x="2498731" y="3383431"/>
                  </a:cubicBezTo>
                  <a:close/>
                </a:path>
              </a:pathLst>
            </a:custGeom>
            <a:solidFill>
              <a:srgbClr val="FFF559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86809" y="4267375"/>
            <a:ext cx="3388048" cy="4369954"/>
            <a:chOff x="0" y="0"/>
            <a:chExt cx="2623191" cy="338343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23191" cy="3383431"/>
            </a:xfrm>
            <a:custGeom>
              <a:avLst/>
              <a:gdLst/>
              <a:ahLst/>
              <a:cxnLst/>
              <a:rect l="l" t="t" r="r" b="b"/>
              <a:pathLst>
                <a:path w="2623191" h="3383431">
                  <a:moveTo>
                    <a:pt x="2498731" y="3383431"/>
                  </a:moveTo>
                  <a:lnTo>
                    <a:pt x="124460" y="3383431"/>
                  </a:lnTo>
                  <a:cubicBezTo>
                    <a:pt x="55880" y="3383431"/>
                    <a:pt x="0" y="3327551"/>
                    <a:pt x="0" y="3258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258971"/>
                  </a:lnTo>
                  <a:cubicBezTo>
                    <a:pt x="2623191" y="3327551"/>
                    <a:pt x="2567311" y="3383431"/>
                    <a:pt x="2498731" y="3383431"/>
                  </a:cubicBezTo>
                  <a:close/>
                </a:path>
              </a:pathLst>
            </a:custGeom>
            <a:solidFill>
              <a:srgbClr val="FFF559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521748" y="4323582"/>
            <a:ext cx="3388048" cy="4369954"/>
            <a:chOff x="0" y="0"/>
            <a:chExt cx="2623191" cy="338343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3191" cy="3383431"/>
            </a:xfrm>
            <a:custGeom>
              <a:avLst/>
              <a:gdLst/>
              <a:ahLst/>
              <a:cxnLst/>
              <a:rect l="l" t="t" r="r" b="b"/>
              <a:pathLst>
                <a:path w="2623191" h="3383431">
                  <a:moveTo>
                    <a:pt x="2498731" y="3383431"/>
                  </a:moveTo>
                  <a:lnTo>
                    <a:pt x="124460" y="3383431"/>
                  </a:lnTo>
                  <a:cubicBezTo>
                    <a:pt x="55880" y="3383431"/>
                    <a:pt x="0" y="3327551"/>
                    <a:pt x="0" y="325897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2498731" y="0"/>
                  </a:lnTo>
                  <a:cubicBezTo>
                    <a:pt x="2567311" y="0"/>
                    <a:pt x="2623191" y="55880"/>
                    <a:pt x="2623191" y="124460"/>
                  </a:cubicBezTo>
                  <a:lnTo>
                    <a:pt x="2623191" y="3258971"/>
                  </a:lnTo>
                  <a:cubicBezTo>
                    <a:pt x="2623191" y="3327551"/>
                    <a:pt x="2567311" y="3383431"/>
                    <a:pt x="2498731" y="3383431"/>
                  </a:cubicBezTo>
                  <a:close/>
                </a:path>
              </a:pathLst>
            </a:custGeom>
            <a:solidFill>
              <a:srgbClr val="FFF559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2725380" y="5484599"/>
            <a:ext cx="1986951" cy="1986951"/>
          </a:xfrm>
          <a:custGeom>
            <a:avLst/>
            <a:gdLst/>
            <a:ahLst/>
            <a:cxnLst/>
            <a:rect l="l" t="t" r="r" b="b"/>
            <a:pathLst>
              <a:path w="1986951" h="1986951">
                <a:moveTo>
                  <a:pt x="0" y="0"/>
                </a:moveTo>
                <a:lnTo>
                  <a:pt x="1986950" y="0"/>
                </a:lnTo>
                <a:lnTo>
                  <a:pt x="1986950" y="1986951"/>
                </a:lnTo>
                <a:lnTo>
                  <a:pt x="0" y="19869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>
          <a:xfrm>
            <a:off x="7806301" y="5329169"/>
            <a:ext cx="2349063" cy="2297811"/>
          </a:xfrm>
          <a:custGeom>
            <a:avLst/>
            <a:gdLst/>
            <a:ahLst/>
            <a:cxnLst/>
            <a:rect l="l" t="t" r="r" b="b"/>
            <a:pathLst>
              <a:path w="2349063" h="2297811">
                <a:moveTo>
                  <a:pt x="0" y="0"/>
                </a:moveTo>
                <a:lnTo>
                  <a:pt x="2349063" y="0"/>
                </a:lnTo>
                <a:lnTo>
                  <a:pt x="2349063" y="2297811"/>
                </a:lnTo>
                <a:lnTo>
                  <a:pt x="0" y="22978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2" name="Freeform 12"/>
          <p:cNvSpPr/>
          <p:nvPr/>
        </p:nvSpPr>
        <p:spPr>
          <a:xfrm>
            <a:off x="13687727" y="5385376"/>
            <a:ext cx="1056090" cy="986124"/>
          </a:xfrm>
          <a:custGeom>
            <a:avLst/>
            <a:gdLst/>
            <a:ahLst/>
            <a:cxnLst/>
            <a:rect l="l" t="t" r="r" b="b"/>
            <a:pathLst>
              <a:path w="1056090" h="986124">
                <a:moveTo>
                  <a:pt x="0" y="0"/>
                </a:moveTo>
                <a:lnTo>
                  <a:pt x="1056090" y="0"/>
                </a:lnTo>
                <a:lnTo>
                  <a:pt x="1056090" y="986124"/>
                </a:lnTo>
                <a:lnTo>
                  <a:pt x="0" y="9861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3" name="Freeform 13"/>
          <p:cNvSpPr/>
          <p:nvPr/>
        </p:nvSpPr>
        <p:spPr>
          <a:xfrm>
            <a:off x="14273162" y="6742718"/>
            <a:ext cx="1129384" cy="940469"/>
          </a:xfrm>
          <a:custGeom>
            <a:avLst/>
            <a:gdLst/>
            <a:ahLst/>
            <a:cxnLst/>
            <a:rect l="l" t="t" r="r" b="b"/>
            <a:pathLst>
              <a:path w="1129384" h="940469">
                <a:moveTo>
                  <a:pt x="0" y="0"/>
                </a:moveTo>
                <a:lnTo>
                  <a:pt x="1129385" y="0"/>
                </a:lnTo>
                <a:lnTo>
                  <a:pt x="1129385" y="940469"/>
                </a:lnTo>
                <a:lnTo>
                  <a:pt x="0" y="94046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4" name="Freeform 14"/>
          <p:cNvSpPr/>
          <p:nvPr/>
        </p:nvSpPr>
        <p:spPr>
          <a:xfrm>
            <a:off x="13011564" y="6452352"/>
            <a:ext cx="1204208" cy="1204208"/>
          </a:xfrm>
          <a:custGeom>
            <a:avLst/>
            <a:gdLst/>
            <a:ahLst/>
            <a:cxnLst/>
            <a:rect l="l" t="t" r="r" b="b"/>
            <a:pathLst>
              <a:path w="1204208" h="1204208">
                <a:moveTo>
                  <a:pt x="0" y="0"/>
                </a:moveTo>
                <a:lnTo>
                  <a:pt x="1204208" y="0"/>
                </a:lnTo>
                <a:lnTo>
                  <a:pt x="1204208" y="1204208"/>
                </a:lnTo>
                <a:lnTo>
                  <a:pt x="0" y="120420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6" name="TextBox 16"/>
          <p:cNvSpPr txBox="1"/>
          <p:nvPr/>
        </p:nvSpPr>
        <p:spPr>
          <a:xfrm>
            <a:off x="2266655" y="4433954"/>
            <a:ext cx="2904400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2C346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Alcance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529252" y="4424601"/>
            <a:ext cx="2904400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2C346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Roles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763572" y="4480808"/>
            <a:ext cx="2904400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b="1">
                <a:solidFill>
                  <a:srgbClr val="2C346B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Lógica principal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096225" y="1593464"/>
            <a:ext cx="14084886" cy="1219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00"/>
              </a:lnSpc>
              <a:spcBef>
                <a:spcPct val="0"/>
              </a:spcBef>
            </a:pPr>
            <a:r>
              <a:rPr lang="en-US" sz="8000" spc="-200" dirty="0" err="1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normas</a:t>
            </a:r>
            <a:r>
              <a:rPr lang="en-US" sz="8000" spc="-200" dirty="0">
                <a:solidFill>
                  <a:srgbClr val="FFF559"/>
                </a:solidFill>
                <a:latin typeface="Shrikhand"/>
                <a:ea typeface="Shrikhand"/>
                <a:cs typeface="Shrikhand"/>
                <a:sym typeface="Shrikhand"/>
              </a:rPr>
              <a:t> “La Rata”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266655" y="7972910"/>
            <a:ext cx="2904400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C346B"/>
                </a:solidFill>
                <a:latin typeface="Quicksand"/>
                <a:ea typeface="Quicksand"/>
                <a:cs typeface="Quicksand"/>
                <a:sym typeface="Quicksand"/>
              </a:rPr>
              <a:t>3-6 jugadores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28633" y="7972910"/>
            <a:ext cx="2904400" cy="432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2C346B"/>
                </a:solidFill>
                <a:latin typeface="Quicksand"/>
                <a:ea typeface="Quicksand"/>
                <a:cs typeface="Quicksand"/>
                <a:sym typeface="Quicksand"/>
              </a:rPr>
              <a:t>Jugador</a:t>
            </a:r>
            <a:endParaRPr lang="en-US" sz="2799" dirty="0">
              <a:solidFill>
                <a:srgbClr val="2C346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521748" y="7800517"/>
            <a:ext cx="3388048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>
                <a:solidFill>
                  <a:srgbClr val="2C346B"/>
                </a:solidFill>
                <a:latin typeface="Quicksand"/>
                <a:ea typeface="Quicksand"/>
                <a:cs typeface="Quicksand"/>
                <a:sym typeface="Quicksand"/>
              </a:rPr>
              <a:t>Vidas, rondas y apuestas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5667972" y="8487587"/>
            <a:ext cx="2904400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639"/>
              </a:lnSpc>
              <a:spcBef>
                <a:spcPct val="0"/>
              </a:spcBef>
            </a:pPr>
            <a:r>
              <a:rPr lang="en-US" sz="2799" dirty="0" err="1">
                <a:solidFill>
                  <a:srgbClr val="2C346B"/>
                </a:solidFill>
                <a:latin typeface="Quicksand"/>
                <a:ea typeface="Quicksand"/>
                <a:cs typeface="Quicksand"/>
                <a:sym typeface="Quicksand"/>
              </a:rPr>
              <a:t>Usabilidad</a:t>
            </a:r>
            <a:endParaRPr lang="en-US" sz="2799" dirty="0">
              <a:solidFill>
                <a:srgbClr val="2C346B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9144000" cy="10287000"/>
            <a:chOff x="0" y="0"/>
            <a:chExt cx="12192000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0527" r="46917"/>
            <a:stretch>
              <a:fillRect/>
            </a:stretch>
          </p:blipFill>
          <p:spPr>
            <a:xfrm>
              <a:off x="0" y="0"/>
              <a:ext cx="12192000" cy="13716000"/>
            </a:xfrm>
            <a:prstGeom prst="rect">
              <a:avLst/>
            </a:prstGeom>
          </p:spPr>
        </p:pic>
      </p:grpSp>
      <p:sp>
        <p:nvSpPr>
          <p:cNvPr id="4" name="Freeform 4"/>
          <p:cNvSpPr/>
          <p:nvPr/>
        </p:nvSpPr>
        <p:spPr>
          <a:xfrm>
            <a:off x="530285" y="636162"/>
            <a:ext cx="2798457" cy="2798457"/>
          </a:xfrm>
          <a:custGeom>
            <a:avLst/>
            <a:gdLst/>
            <a:ahLst/>
            <a:cxnLst/>
            <a:rect l="l" t="t" r="r" b="b"/>
            <a:pathLst>
              <a:path w="2798457" h="2798457">
                <a:moveTo>
                  <a:pt x="0" y="0"/>
                </a:moveTo>
                <a:lnTo>
                  <a:pt x="2798457" y="0"/>
                </a:lnTo>
                <a:lnTo>
                  <a:pt x="2798457" y="2798457"/>
                </a:lnTo>
                <a:lnTo>
                  <a:pt x="0" y="2798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5" name="TextBox 5"/>
          <p:cNvSpPr txBox="1"/>
          <p:nvPr/>
        </p:nvSpPr>
        <p:spPr>
          <a:xfrm>
            <a:off x="10662601" y="5156283"/>
            <a:ext cx="5532090" cy="5876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9" lvl="1" indent="-302260" algn="l">
              <a:lnSpc>
                <a:spcPts val="4199"/>
              </a:lnSpc>
              <a:buAutoNum type="arabicPeriod"/>
            </a:pPr>
            <a:r>
              <a:rPr lang="en-US" sz="2799" b="1" dirty="0" err="1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Prototipo</a:t>
            </a:r>
            <a:r>
              <a:rPr lang="en-US" sz="2799" b="1" dirty="0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Visual (Figma)</a:t>
            </a: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r>
              <a:rPr lang="en-US" sz="2799" b="1" dirty="0" err="1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Prototipo</a:t>
            </a:r>
            <a:r>
              <a:rPr lang="en-US" sz="2799" b="1" dirty="0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 </a:t>
            </a:r>
            <a:r>
              <a:rPr lang="en-US" sz="2799" b="1" dirty="0" err="1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</a:rPr>
              <a:t>Funcional</a:t>
            </a: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302259" lvl="1">
              <a:lnSpc>
                <a:spcPts val="4199"/>
              </a:lnSpc>
              <a:spcBef>
                <a:spcPct val="0"/>
              </a:spcBef>
            </a:pPr>
            <a:r>
              <a:rPr lang="en-US" sz="2799" b="1" u="sng" dirty="0">
                <a:solidFill>
                  <a:srgbClr val="272727"/>
                </a:solidFill>
                <a:latin typeface="Quicksand Medium"/>
                <a:ea typeface="Quicksand Medium"/>
                <a:cs typeface="Quicksand Medium"/>
                <a:sym typeface="Quicksand Medium"/>
                <a:hlinkClick r:id="rId4"/>
              </a:rPr>
              <a:t>https://www.figma.com/design/vKqqMAV5IrwEKMFAv4fTSW/Juego-de-la-rata?node-id=0-1&amp;t=l4beYpkqfLhfzUI0-1</a:t>
            </a:r>
            <a:endParaRPr lang="en-US" sz="2799" b="1" u="sng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  <a:p>
            <a:pPr marL="604519" lvl="1" indent="-302260" algn="l">
              <a:lnSpc>
                <a:spcPts val="4199"/>
              </a:lnSpc>
              <a:spcBef>
                <a:spcPct val="0"/>
              </a:spcBef>
              <a:buAutoNum type="arabicPeriod"/>
            </a:pPr>
            <a:endParaRPr lang="en-US" sz="2799" b="1" dirty="0">
              <a:solidFill>
                <a:srgbClr val="272727"/>
              </a:solidFill>
              <a:latin typeface="Quicksand Medium"/>
              <a:ea typeface="Quicksand Medium"/>
              <a:cs typeface="Quicksand Medium"/>
              <a:sym typeface="Quicksand Medium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662601" y="2035391"/>
            <a:ext cx="5532090" cy="243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DEMO: Prototipo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5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190625" y="5143500"/>
            <a:ext cx="16068675" cy="0"/>
          </a:xfrm>
          <a:prstGeom prst="line">
            <a:avLst/>
          </a:prstGeom>
          <a:ln w="19050" cap="rnd">
            <a:solidFill>
              <a:srgbClr val="27272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ES"/>
          </a:p>
        </p:txBody>
      </p:sp>
      <p:grpSp>
        <p:nvGrpSpPr>
          <p:cNvPr id="3" name="Group 3"/>
          <p:cNvGrpSpPr/>
          <p:nvPr/>
        </p:nvGrpSpPr>
        <p:grpSpPr>
          <a:xfrm>
            <a:off x="4261486" y="5003083"/>
            <a:ext cx="323850" cy="323850"/>
            <a:chOff x="0" y="0"/>
            <a:chExt cx="6350000" cy="6350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72727"/>
            </a:solidFill>
          </p:spPr>
          <p:txBody>
            <a:bodyPr/>
            <a:lstStyle/>
            <a:p>
              <a:endParaRPr lang="es-ES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971145" y="4972050"/>
            <a:ext cx="323850" cy="323850"/>
            <a:chOff x="0" y="0"/>
            <a:chExt cx="6350000" cy="63500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272727"/>
            </a:solidFill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9" name="Freeform 9"/>
          <p:cNvSpPr/>
          <p:nvPr/>
        </p:nvSpPr>
        <p:spPr>
          <a:xfrm>
            <a:off x="13826872" y="1028700"/>
            <a:ext cx="3048000" cy="2438400"/>
          </a:xfrm>
          <a:custGeom>
            <a:avLst/>
            <a:gdLst/>
            <a:ahLst/>
            <a:cxnLst/>
            <a:rect l="l" t="t" r="r" b="b"/>
            <a:pathLst>
              <a:path w="3048000" h="2438400">
                <a:moveTo>
                  <a:pt x="0" y="0"/>
                </a:moveTo>
                <a:lnTo>
                  <a:pt x="3048000" y="0"/>
                </a:lnTo>
                <a:lnTo>
                  <a:pt x="3048000" y="2438400"/>
                </a:lnTo>
                <a:lnTo>
                  <a:pt x="0" y="24384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s-ES"/>
          </a:p>
        </p:txBody>
      </p:sp>
      <p:sp>
        <p:nvSpPr>
          <p:cNvPr id="10" name="TextBox 10"/>
          <p:cNvSpPr txBox="1"/>
          <p:nvPr/>
        </p:nvSpPr>
        <p:spPr>
          <a:xfrm>
            <a:off x="1028700" y="1028700"/>
            <a:ext cx="8115502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r>
              <a:rPr lang="en-US" sz="8000" spc="-200" dirty="0" err="1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Conclusiones</a:t>
            </a:r>
            <a:endParaRPr lang="en-US" sz="8000" spc="-200" dirty="0">
              <a:solidFill>
                <a:srgbClr val="272727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827172" y="5756397"/>
            <a:ext cx="4288558" cy="916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spc="-55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Trabajo</a:t>
            </a:r>
            <a:r>
              <a:rPr lang="en-US" sz="2799" b="1" spc="-55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799" b="1" spc="-55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completado</a:t>
            </a:r>
            <a:r>
              <a:rPr lang="en-US" sz="2799" b="1" spc="-55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(Sprint 1)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81200" y="6677023"/>
            <a:ext cx="5134530" cy="2946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endParaRPr dirty="0"/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ERS v1.0 (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requisitos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funcionales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y no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funcionales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definidos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).</a:t>
            </a:r>
          </a:p>
          <a:p>
            <a:pPr marL="226695" lvl="1" algn="l">
              <a:lnSpc>
                <a:spcPts val="2940"/>
              </a:lnSpc>
            </a:pP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Prototipo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visual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Figma </a:t>
            </a: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453390" lvl="1" indent="-226695">
              <a:lnSpc>
                <a:spcPts val="2940"/>
              </a:lnSpc>
              <a:buFont typeface="Arial"/>
              <a:buChar char="•"/>
            </a:pP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Interfaz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inicial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Github</a:t>
            </a: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1150716" y="5680392"/>
            <a:ext cx="4288558" cy="459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639"/>
              </a:lnSpc>
              <a:spcBef>
                <a:spcPct val="0"/>
              </a:spcBef>
            </a:pPr>
            <a:r>
              <a:rPr lang="en-US" sz="2799" b="1" spc="-55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Problemas</a:t>
            </a:r>
            <a:r>
              <a:rPr lang="en-US" sz="2799" b="1" spc="-55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799" b="1" spc="-55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detectados</a:t>
            </a:r>
            <a:endParaRPr lang="en-US" sz="2799" b="1" spc="-55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0565805" y="6350794"/>
            <a:ext cx="5134530" cy="33187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endParaRPr dirty="0"/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Aún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no se ha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desarrollado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la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lógica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de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turnos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ni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la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interacción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entre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jugadores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.</a:t>
            </a:r>
          </a:p>
          <a:p>
            <a:pPr marL="226695" lvl="1" algn="l">
              <a:lnSpc>
                <a:spcPts val="2940"/>
              </a:lnSpc>
            </a:pP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  <a:p>
            <a:pPr marL="453390" lvl="1" indent="-226695" algn="l">
              <a:lnSpc>
                <a:spcPts val="2940"/>
              </a:lnSpc>
              <a:buFont typeface="Arial"/>
              <a:buChar char="•"/>
            </a:pP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Pendiente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definir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cómo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se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gestionarán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las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partidas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línea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en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</a:t>
            </a:r>
            <a:r>
              <a:rPr lang="en-US" sz="2100" b="1" dirty="0" err="1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futuros</a:t>
            </a:r>
            <a:r>
              <a:rPr lang="en-US" sz="2100" b="1" dirty="0">
                <a:solidFill>
                  <a:srgbClr val="272727"/>
                </a:solidFill>
                <a:latin typeface="Quicksand Bold"/>
                <a:ea typeface="Quicksand Bold"/>
                <a:cs typeface="Quicksand Bold"/>
                <a:sym typeface="Quicksand Bold"/>
              </a:rPr>
              <a:t> sprints.</a:t>
            </a:r>
          </a:p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endParaRPr lang="en-US" sz="2100" b="1" dirty="0">
              <a:solidFill>
                <a:srgbClr val="272727"/>
              </a:solidFill>
              <a:latin typeface="Quicksand Bold"/>
              <a:ea typeface="Quicksand Bold"/>
              <a:cs typeface="Quicksand Bold"/>
              <a:sym typeface="Quicksand Bold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98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833614" y="4191000"/>
            <a:ext cx="12620772" cy="6096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Muchas gracias </a:t>
            </a:r>
          </a:p>
          <a:p>
            <a:pPr algn="ctr">
              <a:lnSpc>
                <a:spcPts val="9600"/>
              </a:lnSpc>
            </a:pPr>
            <a:r>
              <a:rPr lang="en-US" sz="8000" spc="-200">
                <a:solidFill>
                  <a:srgbClr val="272727"/>
                </a:solidFill>
                <a:latin typeface="Shrikhand"/>
                <a:ea typeface="Shrikhand"/>
                <a:cs typeface="Shrikhand"/>
                <a:sym typeface="Shrikhand"/>
              </a:rPr>
              <a:t>por vuestra atención!</a:t>
            </a:r>
          </a:p>
          <a:p>
            <a:pPr algn="l">
              <a:lnSpc>
                <a:spcPts val="9600"/>
              </a:lnSpc>
            </a:pPr>
            <a:endParaRPr lang="en-US" sz="8000" spc="-200">
              <a:solidFill>
                <a:srgbClr val="272727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algn="ctr">
              <a:lnSpc>
                <a:spcPts val="9600"/>
              </a:lnSpc>
            </a:pPr>
            <a:endParaRPr lang="en-US" sz="8000" spc="-200">
              <a:solidFill>
                <a:srgbClr val="272727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marL="0" lvl="0" indent="0" algn="l">
              <a:lnSpc>
                <a:spcPts val="9600"/>
              </a:lnSpc>
              <a:spcBef>
                <a:spcPct val="0"/>
              </a:spcBef>
            </a:pPr>
            <a:endParaRPr lang="en-US" sz="8000" spc="-200">
              <a:solidFill>
                <a:srgbClr val="272727"/>
              </a:solidFill>
              <a:latin typeface="Shrikhand"/>
              <a:ea typeface="Shrikhand"/>
              <a:cs typeface="Shrikhand"/>
              <a:sym typeface="Shrikha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144</Words>
  <Application>Microsoft Office PowerPoint</Application>
  <PresentationFormat>Personalizado</PresentationFormat>
  <Paragraphs>40</Paragraphs>
  <Slides>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4" baseType="lpstr">
      <vt:lpstr>Aptos</vt:lpstr>
      <vt:lpstr>Quicksand Bold</vt:lpstr>
      <vt:lpstr>Quicksand</vt:lpstr>
      <vt:lpstr>Arial</vt:lpstr>
      <vt:lpstr>Shrikhand</vt:lpstr>
      <vt:lpstr>Quicksand Medium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SPRINT1</dc:title>
  <cp:lastModifiedBy>Marcos Manen Jove</cp:lastModifiedBy>
  <cp:revision>2</cp:revision>
  <dcterms:created xsi:type="dcterms:W3CDTF">2006-08-16T00:00:00Z</dcterms:created>
  <dcterms:modified xsi:type="dcterms:W3CDTF">2025-10-22T07:15:26Z</dcterms:modified>
  <dc:identifier>DAG2cgSuOYw</dc:identifier>
</cp:coreProperties>
</file>